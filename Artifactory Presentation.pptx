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7" r:id="rId5"/>
    <p:sldId id="258" r:id="rId6"/>
    <p:sldId id="259" r:id="rId7"/>
    <p:sldId id="280" r:id="rId8"/>
    <p:sldId id="291" r:id="rId9"/>
    <p:sldId id="304" r:id="rId10"/>
    <p:sldId id="282" r:id="rId11"/>
    <p:sldId id="305" r:id="rId12"/>
    <p:sldId id="288" r:id="rId13"/>
    <p:sldId id="290" r:id="rId14"/>
    <p:sldId id="301" r:id="rId15"/>
    <p:sldId id="302" r:id="rId16"/>
    <p:sldId id="289" r:id="rId17"/>
    <p:sldId id="285" r:id="rId18"/>
    <p:sldId id="286" r:id="rId19"/>
    <p:sldId id="283" r:id="rId20"/>
    <p:sldId id="284" r:id="rId21"/>
    <p:sldId id="281" r:id="rId22"/>
    <p:sldId id="287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3" r:id="rId32"/>
    <p:sldId id="292" r:id="rId33"/>
    <p:sldId id="306" r:id="rId34"/>
    <p:sldId id="307" r:id="rId35"/>
    <p:sldId id="308" r:id="rId36"/>
    <p:sldId id="278" r:id="rId37"/>
    <p:sldId id="279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0075B0"/>
    <a:srgbClr val="00547E"/>
    <a:srgbClr val="0093DD"/>
    <a:srgbClr val="FFFFFF"/>
    <a:srgbClr val="69CAFB"/>
    <a:srgbClr val="44BDFA"/>
    <a:srgbClr val="0085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54" autoAdjust="0"/>
  </p:normalViewPr>
  <p:slideViewPr>
    <p:cSldViewPr snapToGrid="0" showGuides="1">
      <p:cViewPr>
        <p:scale>
          <a:sx n="82" d="100"/>
          <a:sy n="82" d="100"/>
        </p:scale>
        <p:origin x="-720" y="-462"/>
      </p:cViewPr>
      <p:guideLst>
        <p:guide orient="horz" pos="1419"/>
        <p:guide orient="horz" pos="4164"/>
        <p:guide orient="horz" pos="1171"/>
        <p:guide orient="horz" pos="3505"/>
        <p:guide orient="horz" pos="1685"/>
        <p:guide pos="2880"/>
        <p:guide pos="5616"/>
        <p:guide pos="144"/>
        <p:guide/>
        <p:guide pos="1104"/>
        <p:guide pos="1591"/>
        <p:guide pos="3024"/>
        <p:guide pos="14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-202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3DB0290-AD4D-4875-AE36-9B95EED37B23}" type="datetimeFigureOut">
              <a:rPr lang="en-US"/>
              <a:pPr>
                <a:defRPr/>
              </a:pPr>
              <a:t>12/1/2014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92957E-9FAD-400F-965F-6B63005E9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2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4DB1155-23EC-48ED-968C-871B97B5CB18}" type="datetimeFigureOut">
              <a:rPr lang="en-US"/>
              <a:pPr>
                <a:defRPr/>
              </a:pPr>
              <a:t>12/1/2014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8DA488-622B-4B03-89F7-0C7090BEF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05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E4AD956-EE4C-4A29-A06C-89DAA5C0B580}" type="slidenum">
              <a:rPr lang="en-US" altLang="en-US" smtClean="0">
                <a:latin typeface="Calibri" pitchFamily="34" charset="0"/>
              </a:rPr>
              <a:pPr/>
              <a:t>1</a:t>
            </a:fld>
            <a:endParaRPr lang="en-US" altLang="en-US" smtClean="0">
              <a:latin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3AF68AC0-2E5B-467A-BC42-D72B88F4B666}" type="datetime1">
              <a:rPr lang="en-US" smtClean="0"/>
              <a:pPr>
                <a:defRPr/>
              </a:pPr>
              <a:t>12/1/2014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8DA488-622B-4B03-89F7-0C7090BEF1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28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660EB3A-D604-4AB8-B6FE-517D58584C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569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4" t="21" b="7971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E024804-5FE4-43EB-A3DC-CE9465AC980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609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AE39FDE-B22A-46FC-A160-90B07DD945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5281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Option - Option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-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C41715D-A6B8-40A7-95E6-CFD2F83C7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620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295889-5643-4F2A-A2EA-6C57F8E41B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51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708172-4FBD-4E30-AF6C-AEA3E3461C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6869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EF7CF83-7D07-416B-9A2E-8A92D31C37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948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rgbClr val="262626"/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pic>
        <p:nvPicPr>
          <p:cNvPr id="5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CC72EAB-1B23-42D4-AE30-1C46AF8970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2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/ Content /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C87B666-782D-45DF-B949-4849698477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44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/Content/Bulle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629" b="8450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457200" indent="-228600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32EA29C-C541-4170-82C5-9362BD02D0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29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lide with Text -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423733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89CA7F7-F4C4-4DC2-8A57-21C659CD72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98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1EA9D3A-9DF0-413E-93DD-8C0E48055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929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2D103BA-A63D-434B-BBAA-F783C63294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2015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auto">
          <a:xfrm flipH="1">
            <a:off x="-9525" y="1457325"/>
            <a:ext cx="2286000" cy="795338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 flipH="1">
            <a:off x="4572000" y="1457325"/>
            <a:ext cx="2286000" cy="795338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 flipH="1">
            <a:off x="6858000" y="1457325"/>
            <a:ext cx="2286000" cy="795338"/>
          </a:xfrm>
          <a:prstGeom prst="rect">
            <a:avLst/>
          </a:prstGeom>
          <a:solidFill>
            <a:srgbClr val="EB7E0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 bwMode="auto">
          <a:xfrm flipH="1">
            <a:off x="2278063" y="1457325"/>
            <a:ext cx="2293937" cy="795338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 bwMode="auto">
          <a:xfrm flipH="1" flipV="1">
            <a:off x="2278063" y="2252663"/>
            <a:ext cx="2293937" cy="3343275"/>
          </a:xfrm>
          <a:prstGeom prst="rect">
            <a:avLst/>
          </a:prstGeom>
          <a:solidFill>
            <a:srgbClr val="69CAF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 bwMode="auto">
          <a:xfrm flipH="1" flipV="1">
            <a:off x="4572000" y="2252663"/>
            <a:ext cx="2286000" cy="3343275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 bwMode="auto">
          <a:xfrm flipH="1" flipV="1">
            <a:off x="-9525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Rectangle 19"/>
          <p:cNvSpPr/>
          <p:nvPr userDrawn="1"/>
        </p:nvSpPr>
        <p:spPr bwMode="auto">
          <a:xfrm flipH="1" flipV="1">
            <a:off x="6858000" y="2252663"/>
            <a:ext cx="2286000" cy="3343275"/>
          </a:xfrm>
          <a:prstGeom prst="rect">
            <a:avLst/>
          </a:prstGeom>
          <a:solidFill>
            <a:srgbClr val="FDD9B1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17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67713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7"/>
          </p:nvPr>
        </p:nvSpPr>
        <p:spPr>
          <a:xfrm>
            <a:off x="128017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67712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2CAF88E-6F27-44C8-9EA2-48A00F8046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1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C0BA471-DB2D-4668-BC07-75978C8F4B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66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6000" y="1457325"/>
            <a:ext cx="3400425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86425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71713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86425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0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C441B02-83F8-43C4-8D46-D305778B38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0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9D2AD7-9239-4C1F-A575-95B5CC0AD3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0740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/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.</a:t>
            </a:r>
          </a:p>
        </p:txBody>
      </p:sp>
      <p:pic>
        <p:nvPicPr>
          <p:cNvPr id="5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25"/>
            <a:ext cx="11239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27" name="Picture 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150" y="161925"/>
            <a:ext cx="17065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52AEF1-4D88-4F1B-8FD8-9E21E3DC6E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2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67989D7-9D94-4B8A-A131-F16FC69DD6B1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  <p:sp>
        <p:nvSpPr>
          <p:cNvPr id="7" name="Rectangle 6"/>
          <p:cNvSpPr/>
          <p:nvPr/>
        </p:nvSpPr>
        <p:spPr>
          <a:xfrm>
            <a:off x="1862847" y="4731821"/>
            <a:ext cx="3249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 dirty="0">
                <a:solidFill>
                  <a:schemeClr val="bg1"/>
                </a:solidFill>
                <a:latin typeface="Microsoft Sans Serif" pitchFamily="34" charset="0"/>
                <a:ea typeface="+mj-ea"/>
                <a:cs typeface="Microsoft Sans Serif" pitchFamily="34" charset="0"/>
              </a:rPr>
              <a:t>Title : </a:t>
            </a:r>
            <a:r>
              <a:rPr lang="en-US" altLang="en-US" sz="3200" dirty="0" smtClean="0">
                <a:solidFill>
                  <a:schemeClr val="bg1"/>
                </a:solidFill>
                <a:latin typeface="Microsoft Sans Serif" pitchFamily="34" charset="0"/>
                <a:ea typeface="+mj-ea"/>
                <a:cs typeface="Microsoft Sans Serif" pitchFamily="34" charset="0"/>
              </a:rPr>
              <a:t>Artifactory </a:t>
            </a:r>
            <a:endParaRPr lang="en-US" sz="3200" dirty="0">
              <a:solidFill>
                <a:schemeClr val="bg1"/>
              </a:solidFill>
              <a:latin typeface="Microsoft Sans Serif" pitchFamily="34" charset="0"/>
              <a:ea typeface="+mj-ea"/>
              <a:cs typeface="Microsoft Sans Serif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62847" y="5316596"/>
            <a:ext cx="7000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  <a:cs typeface="Arial" pitchFamily="34" charset="0"/>
              </a:rPr>
              <a:t>Authored and Presented by </a:t>
            </a:r>
            <a:r>
              <a:rPr lang="en-US" altLang="en-US" dirty="0" smtClean="0">
                <a:solidFill>
                  <a:schemeClr val="bg1"/>
                </a:solidFill>
                <a:cs typeface="Arial" pitchFamily="34" charset="0"/>
              </a:rPr>
              <a:t>: Vijeta Angeer</a:t>
            </a:r>
            <a:endParaRPr lang="en-US" altLang="en-US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0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646238" y="1722438"/>
            <a:ext cx="7269162" cy="4724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What is </a:t>
            </a:r>
            <a:r>
              <a:rPr lang="en-US" dirty="0" smtClean="0"/>
              <a:t>Artifactory?</a:t>
            </a:r>
            <a:endParaRPr lang="en-US" dirty="0"/>
          </a:p>
          <a:p>
            <a:pPr eaLnBrk="1" hangingPunct="1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Why </a:t>
            </a: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Artifactory?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Artifactory Architecture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eaLnBrk="1" hangingPunct="1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Difference between </a:t>
            </a: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Artifactory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and nexus ?</a:t>
            </a:r>
          </a:p>
          <a:p>
            <a:pPr eaLnBrk="1" hangingPunct="1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Features of </a:t>
            </a: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Artifactory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eaLnBrk="1" hangingPunct="1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Different repositories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Integration with Atlassian tools and other tools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Migration from Nexus to Artifactory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C8274AD-7B8F-42FF-BC16-FA6CEC88D782}" type="slidenum">
              <a:rPr lang="en-US" altLang="en-US" smtClean="0">
                <a:solidFill>
                  <a:srgbClr val="262626"/>
                </a:solidFill>
              </a:rPr>
              <a:pPr/>
              <a:t>2</a:t>
            </a:fld>
            <a:endParaRPr lang="en-US" altLang="en-US" smtClean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08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/>
              <a:t>What is Artifactory?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3" y="1646238"/>
            <a:ext cx="7269162" cy="3611562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Its </a:t>
            </a:r>
            <a:r>
              <a:rPr lang="en-US" dirty="0"/>
              <a:t>an </a:t>
            </a:r>
            <a:r>
              <a:rPr lang="en-US" dirty="0" smtClean="0"/>
              <a:t>advanced binaries </a:t>
            </a:r>
            <a:r>
              <a:rPr lang="en-US" dirty="0"/>
              <a:t>repository </a:t>
            </a:r>
            <a:r>
              <a:rPr lang="en-US" dirty="0" smtClean="0"/>
              <a:t>manager- the binaries SCM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Artifactory </a:t>
            </a:r>
            <a:r>
              <a:rPr lang="en-US" dirty="0"/>
              <a:t>acts as a proxy between your build tool (Maven, Ant, Ivy, </a:t>
            </a:r>
            <a:r>
              <a:rPr lang="en-US" dirty="0" err="1"/>
              <a:t>Gradle</a:t>
            </a:r>
            <a:r>
              <a:rPr lang="en-US" dirty="0"/>
              <a:t> etc.) and the outside world</a:t>
            </a:r>
            <a:r>
              <a:rPr lang="en-US" dirty="0" smtClean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caches remote artifacts so that you don’t have to download them over and over again</a:t>
            </a:r>
            <a:r>
              <a:rPr lang="en-US" dirty="0" smtClean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First </a:t>
            </a:r>
            <a:r>
              <a:rPr lang="en-US" dirty="0"/>
              <a:t>“real” web-driven repository manager (2006</a:t>
            </a:r>
            <a:r>
              <a:rPr lang="en-US" dirty="0" smtClean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You </a:t>
            </a:r>
            <a:r>
              <a:rPr lang="en-US" dirty="0"/>
              <a:t>can gain full control over all the build artifacts and third-party dependencies your organization </a:t>
            </a:r>
            <a:r>
              <a:rPr lang="en-US" dirty="0" smtClean="0"/>
              <a:t>uses.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Critical for CI/CD and ALM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3</a:t>
            </a:fld>
            <a:endParaRPr lang="en-US" altLang="en-US" smtClean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33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Why Artifactory</a:t>
            </a:r>
            <a:r>
              <a:rPr lang="en-US" dirty="0"/>
              <a:t>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1598612"/>
            <a:ext cx="7431087" cy="4954587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Open </a:t>
            </a:r>
            <a:r>
              <a:rPr lang="en-US" dirty="0"/>
              <a:t>Source </a:t>
            </a:r>
            <a:r>
              <a:rPr lang="en-US" dirty="0" smtClean="0"/>
              <a:t>project.</a:t>
            </a:r>
          </a:p>
          <a:p>
            <a:pPr marL="0" lvl="0" indent="0"/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Its an repository manager</a:t>
            </a:r>
          </a:p>
          <a:p>
            <a:pPr marL="0" indent="0"/>
            <a:r>
              <a:rPr lang="en-US" dirty="0" smtClean="0"/>
              <a:t> 	- </a:t>
            </a:r>
            <a:r>
              <a:rPr lang="en-US" sz="1400" dirty="0" smtClean="0"/>
              <a:t>Artifacts </a:t>
            </a:r>
            <a:r>
              <a:rPr lang="en-US" sz="1400" dirty="0"/>
              <a:t>storage and proxy</a:t>
            </a:r>
          </a:p>
          <a:p>
            <a:pPr marL="0" indent="0"/>
            <a:r>
              <a:rPr lang="en-US" sz="1400" dirty="0" smtClean="0"/>
              <a:t> 	- Avoid </a:t>
            </a:r>
            <a:r>
              <a:rPr lang="en-US" sz="1400" dirty="0"/>
              <a:t>hitting public remote repositories</a:t>
            </a:r>
          </a:p>
          <a:p>
            <a:pPr marL="0" indent="0"/>
            <a:r>
              <a:rPr lang="fr-FR" sz="1400" dirty="0" smtClean="0"/>
              <a:t> 	- Inefficient, </a:t>
            </a:r>
            <a:r>
              <a:rPr lang="fr-FR" sz="1400" dirty="0"/>
              <a:t>unreliable, content </a:t>
            </a:r>
            <a:r>
              <a:rPr lang="fr-FR" sz="1400" dirty="0" err="1"/>
              <a:t>quality</a:t>
            </a:r>
            <a:r>
              <a:rPr lang="fr-FR" sz="1400" dirty="0"/>
              <a:t>, non-</a:t>
            </a:r>
            <a:r>
              <a:rPr lang="fr-FR" sz="1400" dirty="0" err="1"/>
              <a:t>secure</a:t>
            </a:r>
            <a:r>
              <a:rPr lang="fr-FR" sz="1400" dirty="0"/>
              <a:t>...</a:t>
            </a:r>
          </a:p>
          <a:p>
            <a:pPr marL="0" indent="0"/>
            <a:r>
              <a:rPr lang="en-US" sz="1400" dirty="0" smtClean="0"/>
              <a:t> 	- Deploy</a:t>
            </a:r>
            <a:r>
              <a:rPr lang="en-US" sz="1400" dirty="0"/>
              <a:t>, manage and share local artifacts</a:t>
            </a:r>
          </a:p>
          <a:p>
            <a:pPr marL="0" indent="0"/>
            <a:r>
              <a:rPr lang="en-US" sz="1400" dirty="0" smtClean="0"/>
              <a:t> 	- Full </a:t>
            </a:r>
            <a:r>
              <a:rPr lang="en-US" sz="1400" dirty="0"/>
              <a:t>control over artifacts resolution and </a:t>
            </a:r>
            <a:r>
              <a:rPr lang="en-US" sz="1400" dirty="0" smtClean="0"/>
              <a:t>delivery</a:t>
            </a:r>
          </a:p>
          <a:p>
            <a:pPr marL="0" indent="0"/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with any build </a:t>
            </a:r>
            <a:r>
              <a:rPr lang="en-US" dirty="0" smtClean="0"/>
              <a:t>tool- </a:t>
            </a:r>
            <a:r>
              <a:rPr lang="en-US" sz="1600" dirty="0" smtClean="0"/>
              <a:t>Maven</a:t>
            </a:r>
            <a:r>
              <a:rPr lang="en-US" sz="1600" dirty="0"/>
              <a:t>, </a:t>
            </a:r>
            <a:r>
              <a:rPr lang="en-US" sz="1600" dirty="0" err="1"/>
              <a:t>Gradle</a:t>
            </a:r>
            <a:r>
              <a:rPr lang="en-US" sz="1600" dirty="0"/>
              <a:t>, Ivy and more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through industry standard CI </a:t>
            </a:r>
            <a:r>
              <a:rPr lang="en-US" sz="1600" dirty="0"/>
              <a:t>servers-Jenkins, </a:t>
            </a:r>
            <a:r>
              <a:rPr lang="en-US" sz="1600" dirty="0" err="1"/>
              <a:t>TeamCity</a:t>
            </a:r>
            <a:r>
              <a:rPr lang="en-US" sz="1600" dirty="0"/>
              <a:t>, Bamboo and more. Even cloud-based CI servers are supported</a:t>
            </a:r>
            <a:r>
              <a:rPr lang="en-US" dirty="0"/>
              <a:t>.</a:t>
            </a:r>
          </a:p>
          <a:p>
            <a:pPr marL="0" indent="0"/>
            <a:endParaRPr lang="en-US" sz="1400" dirty="0" smtClean="0"/>
          </a:p>
          <a:p>
            <a:pPr marL="0" indent="0"/>
            <a:endParaRPr lang="en-US" sz="1400" dirty="0" smtClean="0"/>
          </a:p>
          <a:p>
            <a:pPr marL="0" indent="0"/>
            <a:endParaRPr lang="en-US" sz="1400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4</a:t>
            </a:fld>
            <a:endParaRPr lang="en-US" altLang="en-US" smtClean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94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Why Artifactory-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1598612"/>
            <a:ext cx="7431087" cy="4954587"/>
          </a:xfrm>
        </p:spPr>
        <p:txBody>
          <a:bodyPr/>
          <a:lstStyle/>
          <a:p>
            <a:pPr marL="0" indent="0"/>
            <a:endParaRPr lang="en-US" sz="1400" dirty="0" smtClean="0"/>
          </a:p>
          <a:p>
            <a:pPr marL="0" indent="0"/>
            <a:endParaRPr lang="en-US" sz="1400" dirty="0" smtClean="0"/>
          </a:p>
          <a:p>
            <a:pPr marL="0" indent="0"/>
            <a:endParaRPr lang="en-US" sz="1400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5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437" y="1724025"/>
            <a:ext cx="6529388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8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Why Artifactory-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1598612"/>
            <a:ext cx="7431087" cy="4954587"/>
          </a:xfrm>
        </p:spPr>
        <p:txBody>
          <a:bodyPr/>
          <a:lstStyle/>
          <a:p>
            <a:pPr marL="0" indent="0"/>
            <a:endParaRPr lang="en-US" sz="1400" dirty="0" smtClean="0"/>
          </a:p>
          <a:p>
            <a:pPr marL="0" indent="0"/>
            <a:endParaRPr lang="en-US" sz="1400" dirty="0" smtClean="0"/>
          </a:p>
          <a:p>
            <a:pPr marL="0" indent="0"/>
            <a:endParaRPr lang="en-US" sz="1400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6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55" y="1790765"/>
            <a:ext cx="7935433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7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Architecture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1282" y="1751012"/>
            <a:ext cx="7269162" cy="47259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Robust </a:t>
            </a:r>
            <a:r>
              <a:rPr lang="en-US" b="1" dirty="0" smtClean="0"/>
              <a:t>Architecture</a:t>
            </a:r>
          </a:p>
          <a:p>
            <a:r>
              <a:rPr lang="en-US" dirty="0" smtClean="0"/>
              <a:t>	</a:t>
            </a:r>
            <a:r>
              <a:rPr lang="en-US" sz="1400" dirty="0" smtClean="0"/>
              <a:t>Built on top of the Java Content Repository (JCR), Artifactory offers higher concurrency and unmatched data integrity. </a:t>
            </a:r>
          </a:p>
          <a:p>
            <a:endParaRPr lang="en-US" sz="1400" dirty="0" smtClean="0"/>
          </a:p>
          <a:p>
            <a:r>
              <a:rPr lang="en-US" sz="1400" dirty="0" smtClean="0"/>
              <a:t>	When run on top of MySQL Artifactory can support an amazingly high volume of concurrent downloads and deployments. 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7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362324"/>
            <a:ext cx="7362825" cy="31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2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Architecture – </a:t>
            </a:r>
            <a:r>
              <a:rPr lang="en-US" dirty="0" err="1" smtClean="0"/>
              <a:t>Cont</a:t>
            </a:r>
            <a:r>
              <a:rPr lang="en-US" dirty="0" smtClean="0"/>
              <a:t> …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8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98" y="1735213"/>
            <a:ext cx="7849696" cy="444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7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Vs Nexus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004" y="1770063"/>
            <a:ext cx="7269162" cy="3611562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9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70744"/>
              </p:ext>
            </p:extLst>
          </p:nvPr>
        </p:nvGraphicFramePr>
        <p:xfrm>
          <a:off x="962027" y="1473201"/>
          <a:ext cx="8058149" cy="4879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762"/>
                <a:gridCol w="3259967"/>
                <a:gridCol w="2438420"/>
              </a:tblGrid>
              <a:tr h="3672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Artifactory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Nexus</a:t>
                      </a:r>
                      <a:endParaRPr lang="en-US" dirty="0"/>
                    </a:p>
                  </a:txBody>
                  <a:tcPr/>
                </a:tc>
              </a:tr>
              <a:tr h="561173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Cloud-based SaaS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Private Artifactory instance in the cloud with full self service.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</a:tr>
              <a:tr h="838418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Auto-cleanup of repositories declared in POMs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Can remove problematic external repository declarations in POMs exposed via virtual repositories.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Nexus does not manipulate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poms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 that it proxies. </a:t>
                      </a:r>
                    </a:p>
                  </a:txBody>
                  <a:tcPr marL="95250" marR="95250" marT="66675" marB="66675"/>
                </a:tc>
              </a:tr>
              <a:tr h="597916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Eager parallel download of related artifacts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Can download jars in parallel.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</a:p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</a:tr>
              <a:tr h="1078922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Shared Remote Repository Definitions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import preconfigured definitions for most common remote repositories, save the configuration hassle.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</a:p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</a:tr>
              <a:tr h="838418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Search for non-Maven artifacts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Indexes any file in any format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Relies on maven-indexer which only indexes artifacts in Maven format</a:t>
                      </a:r>
                    </a:p>
                  </a:txBody>
                  <a:tcPr marL="95250" marR="95250" marT="66675" marB="66675"/>
                </a:tc>
              </a:tr>
              <a:tr h="597916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Search for artifacts in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Bintray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JCenter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Supported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</a:p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98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Vs Nexus - Cont.….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004" y="1770063"/>
            <a:ext cx="7269162" cy="3611562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10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39692"/>
              </p:ext>
            </p:extLst>
          </p:nvPr>
        </p:nvGraphicFramePr>
        <p:xfrm>
          <a:off x="876300" y="1457327"/>
          <a:ext cx="8048624" cy="5095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626"/>
                <a:gridCol w="3726913"/>
                <a:gridCol w="2132085"/>
              </a:tblGrid>
              <a:tr h="374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Artifactory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Nexus</a:t>
                      </a:r>
                      <a:endParaRPr lang="en-US" dirty="0"/>
                    </a:p>
                  </a:txBody>
                  <a:tcPr/>
                </a:tc>
              </a:tr>
              <a:tr h="57414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Proxy remote metadata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Metadata for remote artifacts on another Artifactory is synced and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proxied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.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</a:p>
                    <a:p>
                      <a:pPr algn="l" fontAlgn="t"/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</a:tr>
              <a:tr h="57414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Multiple CI servers support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Supports 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all CI server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 with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full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UI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integration.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</a:p>
                  </a:txBody>
                  <a:tcPr marL="95250" marR="95250" marT="66675" marB="66675"/>
                </a:tc>
              </a:tr>
              <a:tr h="792864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Trace published build artifacts and dependencies.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Captures all published artifacts and effective build dependencies 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</a:p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US" sz="1400" kern="1200" dirty="0" smtClean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</a:tr>
              <a:tr h="1011585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Bi-directional links from/to CI sever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Can link from any build to its captured build info in Artifactory and from any artifact to the builds it is associated with in the CI server.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</a:p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</a:tr>
              <a:tr h="537880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CI-Build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Promotion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Can promote CI builds to target repositories with selective scopes) Also via REST (Pro).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Not Supported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</a:tr>
              <a:tr h="1230307"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Cost</a:t>
                      </a:r>
                      <a:b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</a:b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Each CI server agent and build tool considered a "user"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US$2,750 for unlimited users with Artifactory Pro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US$10,200 for 100 users included with Nexus Pro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All with unlimited servers.</a:t>
                      </a:r>
                    </a:p>
                    <a:p>
                      <a:pPr marL="0" lvl="0" indent="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03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Vs Nexus - Cont.….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004" y="1770063"/>
            <a:ext cx="7269162" cy="3611562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11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70" y="1594767"/>
            <a:ext cx="6858824" cy="473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3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Vs Nexus - Cont.….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004" y="1770063"/>
            <a:ext cx="7269162" cy="3611562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12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732" y="1590339"/>
            <a:ext cx="6910086" cy="46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4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/>
              <a:t>Features of Artifactory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004" y="1770063"/>
            <a:ext cx="7269162" cy="3611562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13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1621215"/>
            <a:ext cx="7067550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Supports p2 eclipse plugin 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repository,nugget,gradle,ivy,npm,yum and many more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Supports Crowd SSO, LDAP integration, JIRA issue integration.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Watchers,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Good UI to manage Administrative  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part and permissions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Upload artifacts from UI </a:t>
            </a: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Automatically generate client 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configurations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Supports build promotion, after 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build promotion update the version in 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pom.xml</a:t>
            </a:r>
          </a:p>
          <a:p>
            <a:pPr lvl="0"/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Manages in-house Docker containers.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Store build data, which helps in traceability.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05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Repositories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1124" y="1627188"/>
            <a:ext cx="7425141" cy="46021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Artifactory hosts three types of repository: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Local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Remote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Virtual</a:t>
            </a:r>
          </a:p>
          <a:p>
            <a:pPr marL="0" indent="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Local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b="1" dirty="0"/>
              <a:t>remote</a:t>
            </a:r>
            <a:r>
              <a:rPr lang="en-US" dirty="0"/>
              <a:t> repositories are true physical </a:t>
            </a:r>
            <a:r>
              <a:rPr lang="en-US" dirty="0" smtClean="0"/>
              <a:t>repositories.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While </a:t>
            </a:r>
            <a:r>
              <a:rPr lang="en-US" dirty="0"/>
              <a:t>a </a:t>
            </a:r>
            <a:r>
              <a:rPr lang="en-US" b="1" dirty="0"/>
              <a:t>virtual</a:t>
            </a:r>
            <a:r>
              <a:rPr lang="en-US" dirty="0"/>
              <a:t> repository is actually an aggregation of them </a:t>
            </a:r>
            <a:r>
              <a:rPr lang="en-US" dirty="0" smtClean="0"/>
              <a:t>used</a:t>
            </a:r>
          </a:p>
          <a:p>
            <a:r>
              <a:rPr lang="en-US" dirty="0" smtClean="0"/>
              <a:t> 	  to create controlled </a:t>
            </a:r>
            <a:r>
              <a:rPr lang="en-US" dirty="0"/>
              <a:t>domains for search and resolution of artifacts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configure repositories, in the </a:t>
            </a:r>
            <a:r>
              <a:rPr lang="en-US" b="1" dirty="0"/>
              <a:t>Admin</a:t>
            </a:r>
            <a:r>
              <a:rPr lang="en-US" dirty="0"/>
              <a:t> tab, go to </a:t>
            </a:r>
            <a:r>
              <a:rPr lang="en-US" b="1" dirty="0" smtClean="0"/>
              <a:t>Configuration | Repositories.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Repositories can be created, deleted, edited, ordered and aggregated.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14</a:t>
            </a:fld>
            <a:endParaRPr lang="en-US" altLang="en-US" smtClean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Repositories – </a:t>
            </a:r>
            <a:r>
              <a:rPr lang="en-US" dirty="0" err="1" smtClean="0"/>
              <a:t>Cont</a:t>
            </a:r>
            <a:r>
              <a:rPr lang="en-US" dirty="0" smtClean="0"/>
              <a:t> …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15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925" y="1635677"/>
            <a:ext cx="6610350" cy="464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9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With DevOps and Ecosystem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16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5" y="1609793"/>
            <a:ext cx="8798660" cy="445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7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Release Pipeline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17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08" y="1757831"/>
            <a:ext cx="8698384" cy="334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239" y="2884934"/>
            <a:ext cx="383221" cy="544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867" y="2884934"/>
            <a:ext cx="383221" cy="544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218" y="2884934"/>
            <a:ext cx="383221" cy="544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707" y="2884934"/>
            <a:ext cx="383221" cy="544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960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/>
              <a:t>Artifactory Integration With Maven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3" y="1703388"/>
            <a:ext cx="7269162" cy="36115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Artifactory </a:t>
            </a:r>
            <a:r>
              <a:rPr lang="en-US" dirty="0" smtClean="0"/>
              <a:t>supports </a:t>
            </a:r>
            <a:r>
              <a:rPr lang="en-US" dirty="0"/>
              <a:t>working with Maven both </a:t>
            </a:r>
            <a:r>
              <a:rPr lang="en-US" dirty="0" smtClean="0"/>
              <a:t>as</a:t>
            </a:r>
          </a:p>
          <a:p>
            <a:pPr marL="0" indent="0"/>
            <a:r>
              <a:rPr lang="en-US" dirty="0"/>
              <a:t> </a:t>
            </a:r>
            <a:r>
              <a:rPr lang="en-US" dirty="0" smtClean="0"/>
              <a:t>      - a </a:t>
            </a:r>
            <a:r>
              <a:rPr lang="en-US" dirty="0"/>
              <a:t>source for artifacts needed for a build, </a:t>
            </a:r>
            <a:endParaRPr lang="en-US" dirty="0" smtClean="0"/>
          </a:p>
          <a:p>
            <a:pPr marL="0" indent="0"/>
            <a:r>
              <a:rPr lang="en-US" dirty="0" smtClean="0"/>
              <a:t>       - and </a:t>
            </a:r>
            <a:r>
              <a:rPr lang="en-US" dirty="0"/>
              <a:t>as a target to deploy artifacts generated in the </a:t>
            </a:r>
            <a:r>
              <a:rPr lang="en-US" dirty="0" smtClean="0"/>
              <a:t>build process</a:t>
            </a:r>
            <a:r>
              <a:rPr lang="en-US" dirty="0"/>
              <a:t>. 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Maven </a:t>
            </a:r>
            <a:r>
              <a:rPr lang="en-US" dirty="0"/>
              <a:t>is configured using a settings.xml file located under your Maven home </a:t>
            </a:r>
            <a:r>
              <a:rPr lang="en-US" dirty="0" smtClean="0"/>
              <a:t>directory.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18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2" y="3814763"/>
            <a:ext cx="51911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109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and Jenkins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3" y="1703388"/>
            <a:ext cx="7269162" cy="36115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Artifactory and Jenkins</a:t>
            </a:r>
          </a:p>
          <a:p>
            <a:endParaRPr lang="en-US" sz="1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Deploy from Hudson to Artifactory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Navigate the builds in Artifactory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Link back to Hudson builds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Relate artifacts to build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Export/promote/manipulate build artifacts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More efficient multi-module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19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50" y="1771650"/>
            <a:ext cx="9525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3057525"/>
            <a:ext cx="2286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and Jenkins – 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20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476374" y="1689735"/>
            <a:ext cx="6943725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</a:t>
            </a:r>
            <a:r>
              <a:rPr lang="en-US" dirty="0"/>
              <a:t>and </a:t>
            </a:r>
            <a:r>
              <a:rPr lang="en-US" dirty="0" smtClean="0"/>
              <a:t>Jenkins </a:t>
            </a:r>
            <a:r>
              <a:rPr lang="en-US" dirty="0"/>
              <a:t>–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21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81174" y="1546860"/>
            <a:ext cx="6600826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6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</a:t>
            </a:r>
            <a:r>
              <a:rPr lang="en-US" dirty="0"/>
              <a:t>and </a:t>
            </a:r>
            <a:r>
              <a:rPr lang="en-US" dirty="0" smtClean="0"/>
              <a:t>Bamboo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22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1651635"/>
            <a:ext cx="697230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3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</a:t>
            </a:r>
            <a:r>
              <a:rPr lang="en-US" dirty="0"/>
              <a:t>and </a:t>
            </a:r>
            <a:r>
              <a:rPr lang="en-US" dirty="0" smtClean="0"/>
              <a:t>Bamboo – </a:t>
            </a:r>
            <a:r>
              <a:rPr lang="en-US" dirty="0" err="1" smtClean="0"/>
              <a:t>Cont</a:t>
            </a:r>
            <a:r>
              <a:rPr lang="en-US" dirty="0" smtClean="0"/>
              <a:t> …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23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33525" y="1613535"/>
            <a:ext cx="693420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3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</a:t>
            </a:r>
            <a:r>
              <a:rPr lang="en-US" dirty="0"/>
              <a:t>and </a:t>
            </a:r>
            <a:r>
              <a:rPr lang="en-US" dirty="0" smtClean="0"/>
              <a:t>Bamboo – </a:t>
            </a:r>
            <a:r>
              <a:rPr lang="en-US" dirty="0" err="1" smtClean="0"/>
              <a:t>Cont</a:t>
            </a:r>
            <a:r>
              <a:rPr lang="en-US" dirty="0" smtClean="0"/>
              <a:t> …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24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523999" y="1632585"/>
            <a:ext cx="6867525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</a:t>
            </a:r>
            <a:r>
              <a:rPr lang="en-US" dirty="0"/>
              <a:t>and </a:t>
            </a:r>
            <a:r>
              <a:rPr lang="en-US" dirty="0" smtClean="0"/>
              <a:t>Bamboo – </a:t>
            </a:r>
            <a:r>
              <a:rPr lang="en-US" dirty="0" err="1" smtClean="0"/>
              <a:t>Cont</a:t>
            </a:r>
            <a:r>
              <a:rPr lang="en-US" dirty="0" smtClean="0"/>
              <a:t> …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25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199" y="1623060"/>
            <a:ext cx="6981825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8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</a:t>
            </a:r>
            <a:r>
              <a:rPr lang="en-US" dirty="0"/>
              <a:t>and </a:t>
            </a:r>
            <a:r>
              <a:rPr lang="en-US" dirty="0" smtClean="0"/>
              <a:t>Bamboo – </a:t>
            </a:r>
            <a:r>
              <a:rPr lang="en-US" dirty="0" err="1" smtClean="0"/>
              <a:t>Cont</a:t>
            </a:r>
            <a:r>
              <a:rPr lang="en-US" dirty="0" smtClean="0"/>
              <a:t> …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26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199" y="1594485"/>
            <a:ext cx="6924675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2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</a:t>
            </a:r>
            <a:r>
              <a:rPr lang="en-US" dirty="0"/>
              <a:t>and </a:t>
            </a:r>
            <a:r>
              <a:rPr lang="en-US" dirty="0" smtClean="0"/>
              <a:t>JIRA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27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1027" name="Picture 3" descr="image0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329" y="1597306"/>
            <a:ext cx="6875362" cy="4838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732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with Black Duck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28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353" y="1768816"/>
            <a:ext cx="6023237" cy="41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Migration from Nexus To Artifactory</a:t>
            </a: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29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1543049"/>
            <a:ext cx="558165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9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With DevOps - Chef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30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57" y="1885734"/>
            <a:ext cx="7954486" cy="385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5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With DevOps – </a:t>
            </a:r>
            <a:r>
              <a:rPr lang="en-US" smtClean="0"/>
              <a:t>High Availability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31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04" y="1782501"/>
            <a:ext cx="7992591" cy="432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82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Artifactory With </a:t>
            </a:r>
            <a:r>
              <a:rPr lang="en-US" dirty="0" smtClean="0"/>
              <a:t>Docker– </a:t>
            </a:r>
            <a:r>
              <a:rPr lang="en-US" dirty="0" smtClean="0"/>
              <a:t>High Availability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2D3982-4459-43A8-924C-E5559297EB41}" type="slidenum">
              <a:rPr lang="en-US" altLang="en-US" smtClean="0">
                <a:solidFill>
                  <a:srgbClr val="262626"/>
                </a:solidFill>
              </a:rPr>
              <a:pPr/>
              <a:t>32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00268" y="1589552"/>
            <a:ext cx="769137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Put it in a container and ship it with 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Artifactory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396" y="1897328"/>
            <a:ext cx="7192652" cy="438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0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4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Any Questions?</a:t>
            </a:r>
          </a:p>
        </p:txBody>
      </p:sp>
      <p:sp>
        <p:nvSpPr>
          <p:cNvPr id="41987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ED85A0A-95A4-4044-A933-599D0F3447F1}" type="slidenum">
              <a:rPr lang="en-US" altLang="en-US" smtClean="0">
                <a:solidFill>
                  <a:srgbClr val="262626"/>
                </a:solidFill>
              </a:rPr>
              <a:pPr/>
              <a:t>33</a:t>
            </a:fld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41988" name="Picture 2" descr="http://1.bp.blogspot.com/-qEdqe2mHxnQ/UcXDgQ4Mx1I/AAAAAAAAI_8/ArB7hXsA3OE/s1600/Questioning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1485900"/>
            <a:ext cx="5713413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314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2"/>
          <p:cNvSpPr>
            <a:spLocks noGrp="1"/>
          </p:cNvSpPr>
          <p:nvPr>
            <p:ph type="title"/>
          </p:nvPr>
        </p:nvSpPr>
        <p:spPr bwMode="auto">
          <a:xfrm>
            <a:off x="1657350" y="5011738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altLang="en-US" dirty="0" smtClean="0"/>
              <a:t>Thank You!</a:t>
            </a:r>
          </a:p>
        </p:txBody>
      </p:sp>
      <p:sp>
        <p:nvSpPr>
          <p:cNvPr id="430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392863"/>
            <a:ext cx="4937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0FE164C-A005-41C6-AA26-A41324231A6F}" type="slidenum">
              <a:rPr lang="en-US" altLang="en-US" smtClean="0">
                <a:solidFill>
                  <a:srgbClr val="262626"/>
                </a:solidFill>
              </a:rPr>
              <a:pPr/>
              <a:t>34</a:t>
            </a:fld>
            <a:endParaRPr lang="en-US" altLang="en-US" smtClean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17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5D1B18D8090143AD0CE3822D887F30" ma:contentTypeVersion="0" ma:contentTypeDescription="Create a new document." ma:contentTypeScope="" ma:versionID="112fd6e2c9d8cc84f0aca1c16b39f2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D5BE00-6C37-41D2-A48D-86C04BBAFF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0DAFC7A-B673-4785-8EE4-539ED5D21B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4CF01F-6C9C-4532-949C-AB7EFB18C04F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2043</TotalTime>
  <Words>662</Words>
  <Application>Microsoft Office PowerPoint</Application>
  <PresentationFormat>On-screen Show (4:3)</PresentationFormat>
  <Paragraphs>218</Paragraphs>
  <Slides>34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Agenda</vt:lpstr>
      <vt:lpstr>What is Artifactory?</vt:lpstr>
      <vt:lpstr>Why Artifactory?</vt:lpstr>
      <vt:lpstr>Why Artifactory-Cont…</vt:lpstr>
      <vt:lpstr>Why Artifactory-Cont…</vt:lpstr>
      <vt:lpstr>Artifactory Architecture</vt:lpstr>
      <vt:lpstr>Artifactory Architecture – Cont …</vt:lpstr>
      <vt:lpstr>Artifactory Vs Nexus</vt:lpstr>
      <vt:lpstr>Artifactory Vs Nexus - Cont.….</vt:lpstr>
      <vt:lpstr>Artifactory Vs Nexus - Cont.….</vt:lpstr>
      <vt:lpstr>Artifactory Vs Nexus - Cont.….</vt:lpstr>
      <vt:lpstr>Features of Artifactory</vt:lpstr>
      <vt:lpstr>Artifactory Repositories</vt:lpstr>
      <vt:lpstr>Artifactory Repositories – Cont …</vt:lpstr>
      <vt:lpstr>Artifactory With DevOps and Ecosystem</vt:lpstr>
      <vt:lpstr>Release Pipeline</vt:lpstr>
      <vt:lpstr>Artifactory Integration With Maven</vt:lpstr>
      <vt:lpstr>Artifactory and Jenkins</vt:lpstr>
      <vt:lpstr>Artifactory and Jenkins – Cont…</vt:lpstr>
      <vt:lpstr>Artifactory and Jenkins – Cont…</vt:lpstr>
      <vt:lpstr>Artifactory and Bamboo</vt:lpstr>
      <vt:lpstr>Artifactory and Bamboo – Cont …</vt:lpstr>
      <vt:lpstr>Artifactory and Bamboo – Cont …</vt:lpstr>
      <vt:lpstr>Artifactory and Bamboo – Cont …</vt:lpstr>
      <vt:lpstr>Artifactory and Bamboo – Cont …</vt:lpstr>
      <vt:lpstr>Artifactory and JIRA</vt:lpstr>
      <vt:lpstr>Artifactory with Black Duck</vt:lpstr>
      <vt:lpstr>Migration from Nexus To Artifactory</vt:lpstr>
      <vt:lpstr>Artifactory With DevOps - Chef </vt:lpstr>
      <vt:lpstr>Artifactory With DevOps – High Availability </vt:lpstr>
      <vt:lpstr>Artifactory With Docker– High Availability </vt:lpstr>
      <vt:lpstr>Any Questions?</vt:lpstr>
      <vt:lpstr>Thank You!</vt:lpstr>
    </vt:vector>
  </TitlesOfParts>
  <Company>Cybage Software Pvt. 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aparna gandhi</dc:creator>
  <cp:lastModifiedBy>Vijeta Angeer</cp:lastModifiedBy>
  <cp:revision>463</cp:revision>
  <dcterms:created xsi:type="dcterms:W3CDTF">2009-07-20T04:26:09Z</dcterms:created>
  <dcterms:modified xsi:type="dcterms:W3CDTF">2014-12-01T08:18:36Z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0x010100B25D1B18D8090143AD0CE3822D887F30</vt:lpwstr>
  </property>
</Properties>
</file>